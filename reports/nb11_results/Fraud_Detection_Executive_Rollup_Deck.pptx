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69848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3864"/>
                </a:solidFill>
              </a:defRPr>
            </a:pPr>
            <a:r>
              <a:t>Fraud Detection Platform</a:t>
            </a:r>
          </a:p>
          <a:p>
            <a:pPr>
              <a:defRPr sz="2200">
                <a:solidFill>
                  <a:srgbClr val="12213B"/>
                </a:solidFill>
              </a:defRPr>
            </a:pPr>
            <a:r>
              <a:t>Executive Rollup — Real Results, NB1–NB9</a:t>
            </a:r>
          </a:p>
          <a:p>
            <a:pPr>
              <a:defRPr sz="1300">
                <a:solidFill>
                  <a:srgbClr val="5B6B85"/>
                </a:solidFill>
              </a:defRPr>
            </a:pPr>
            <a:r>
              <a:t>Prepared by Nandagopal  |  2026-09-13  |  Zero-fabrication policy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864"/>
                </a:solidFill>
              </a:defRPr>
            </a:pPr>
            <a:r>
              <a:t>Executive Summary</a:t>
            </a:r>
          </a:p>
          <a:p>
            <a:pPr>
              <a:defRPr sz="1400">
                <a:solidFill>
                  <a:srgbClr val="5B6B85"/>
                </a:solidFill>
              </a:defRPr>
            </a:pPr>
            <a:r>
              <a:t>Every figure below is loaded verbatim from NB1–NB9's real on-disk outputs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2213B"/>
                </a:solidFill>
              </a:defRPr>
            </a:pPr>
            <a:r>
              <a:t>• Champion model: CatBoost  (CV PR-AUC 0.8482, temporal-split 0.7692)</a:t>
            </a:r>
          </a:p>
          <a:p>
            <a:pPr>
              <a:spcAft>
                <a:spcPts val="800"/>
              </a:spcAft>
              <a:defRPr sz="1600">
                <a:solidFill>
                  <a:srgbClr val="12213B"/>
                </a:solidFill>
              </a:defRPr>
            </a:pPr>
            <a:r>
              <a:t>• Savings vs. no model: EUR 199,995.35 (approx. USD 231,834.61)  |  vs. naive threshold: EUR 7,865.08 (approx. USD 9,117.20)</a:t>
            </a:r>
          </a:p>
          <a:p>
            <a:pPr>
              <a:spcAft>
                <a:spcPts val="800"/>
              </a:spcAft>
              <a:defRPr sz="1600">
                <a:solidFill>
                  <a:srgbClr val="12213B"/>
                </a:solidFill>
              </a:defRPr>
            </a:pPr>
            <a:r>
              <a:t>• Model tier: Tier 2 — Moderate materiality -- proportionate, standard oversight  (composite 5/9)</a:t>
            </a:r>
          </a:p>
          <a:p>
            <a:pPr>
              <a:spcAft>
                <a:spcPts val="800"/>
              </a:spcAft>
              <a:defRPr sz="1600">
                <a:solidFill>
                  <a:srgbClr val="12213B"/>
                </a:solidFill>
              </a:defRPr>
            </a:pPr>
            <a:r>
              <a:t>• BCBS 239 data-quality gate: 6/6 checks passed on 284,807 real rows</a:t>
            </a:r>
          </a:p>
          <a:p>
            <a:pPr>
              <a:spcAft>
                <a:spcPts val="800"/>
              </a:spcAft>
              <a:defRPr sz="1600">
                <a:solidFill>
                  <a:srgbClr val="12213B"/>
                </a:solidFill>
              </a:defRPr>
            </a:pPr>
            <a:r>
              <a:t>• Governance sign-off readiness: 21/30 checks Pass  (5 outside pipeline scope)</a:t>
            </a:r>
          </a:p>
          <a:p>
            <a:pPr>
              <a:spcAft>
                <a:spcPts val="800"/>
              </a:spcAft>
              <a:defRPr sz="1600">
                <a:solidFill>
                  <a:srgbClr val="12213B"/>
                </a:solidFill>
              </a:defRPr>
            </a:pPr>
            <a:r>
              <a:t>• Real local API latency: p99 5.10 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864"/>
                </a:solidFill>
              </a:defRPr>
            </a:pPr>
            <a:r>
              <a:t>Model Screening &amp; Validation</a:t>
            </a:r>
          </a:p>
          <a:p>
            <a:pPr>
              <a:defRPr sz="1400">
                <a:solidFill>
                  <a:srgbClr val="5B6B85"/>
                </a:solidFill>
              </a:defRPr>
            </a:pPr>
            <a:r>
              <a:t>NB1 — 5 real candidates screened, champion selected by 5-fold CV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5852160" cy="28337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0" y="1463040"/>
            <a:ext cx="51206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2213B"/>
                </a:solidFill>
              </a:defRPr>
            </a:pPr>
            <a:r>
              <a:t>• Champion: CatBoost vs. runner-up RandomForest</a:t>
            </a:r>
          </a:p>
          <a:p>
            <a:pPr>
              <a:spcAft>
                <a:spcPts val="800"/>
              </a:spcAft>
              <a:defRPr sz="1400">
                <a:solidFill>
                  <a:srgbClr val="12213B"/>
                </a:solidFill>
              </a:defRPr>
            </a:pPr>
            <a:r>
              <a:t>• Temporal PR-AUC 0.7692 vs. CV 0.8482 — real, disclosed gap</a:t>
            </a:r>
          </a:p>
          <a:p>
            <a:pPr>
              <a:spcAft>
                <a:spcPts val="800"/>
              </a:spcAft>
              <a:defRPr sz="1400">
                <a:solidFill>
                  <a:srgbClr val="12213B"/>
                </a:solidFill>
              </a:defRPr>
            </a:pPr>
            <a:r>
              <a:t>• Benchmark investigate_flag: True  (precision gap -23.82%)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864"/>
                </a:solidFill>
              </a:defRPr>
            </a:pPr>
            <a:r>
              <a:t>Cost-Optimal Threshold &amp; Financial Impact</a:t>
            </a:r>
          </a:p>
          <a:p>
            <a:pPr>
              <a:defRPr sz="1400">
                <a:solidFill>
                  <a:srgbClr val="5B6B85"/>
                </a:solidFill>
              </a:defRPr>
            </a:pPr>
            <a:r>
              <a:t>NB1 real measured totals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5852160" cy="354426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0" y="1463040"/>
            <a:ext cx="51206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2213B"/>
                </a:solidFill>
              </a:defRPr>
            </a:pPr>
            <a:r>
              <a:t>• No model (flag nothing): EUR 265,164.35 (approx. USD 307,378.51)</a:t>
            </a:r>
          </a:p>
          <a:p>
            <a:pPr>
              <a:spcAft>
                <a:spcPts val="800"/>
              </a:spcAft>
              <a:defRPr sz="1400">
                <a:solidFill>
                  <a:srgbClr val="12213B"/>
                </a:solidFill>
              </a:defRPr>
            </a:pPr>
            <a:r>
              <a:t>• Naive 0.5 threshold: EUR 73,034.07 (approx. USD 84,661.10)</a:t>
            </a:r>
          </a:p>
          <a:p>
            <a:pPr>
              <a:spcAft>
                <a:spcPts val="800"/>
              </a:spcAft>
              <a:defRPr sz="1400">
                <a:solidFill>
                  <a:srgbClr val="12213B"/>
                </a:solidFill>
              </a:defRPr>
            </a:pPr>
            <a:r>
              <a:t>• Cost-optimal threshold (0.0443): EUR 65,169.00 (approx. USD 75,543.90)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864"/>
                </a:solidFill>
              </a:defRPr>
            </a:pPr>
            <a:r>
              <a:t>Deepened Stress Testing</a:t>
            </a:r>
          </a:p>
          <a:p>
            <a:pPr>
              <a:defRPr sz="1400">
                <a:solidFill>
                  <a:srgbClr val="5B6B85"/>
                </a:solidFill>
              </a:defRPr>
            </a:pPr>
            <a:r>
              <a:t>NB5 real 3-tier ladder + 105-combo grid sweep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5852160" cy="289961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0" y="1463040"/>
            <a:ext cx="51206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2213B"/>
                </a:solidFill>
              </a:defRPr>
            </a:pPr>
            <a:r>
              <a:t>• Worst of 105 swept combinations: volume x4.0, fraud-rate x8.0 -&gt; EUR 1,390,976.41 (approx. USD 1,612,419.85)</a:t>
            </a:r>
          </a:p>
          <a:p>
            <a:pPr>
              <a:spcAft>
                <a:spcPts val="800"/>
              </a:spcAft>
              <a:defRPr sz="1400">
                <a:solidFill>
                  <a:srgbClr val="12213B"/>
                </a:solidFill>
              </a:defRPr>
            </a:pPr>
            <a:r>
              <a:t>• Reverse stress: 3.00x fraud-rate needed to double today's real cost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864"/>
                </a:solidFill>
              </a:defRPr>
            </a:pPr>
            <a:r>
              <a:t>Governance Sign-Off Readiness</a:t>
            </a:r>
          </a:p>
          <a:p>
            <a:pPr>
              <a:defRPr sz="1400">
                <a:solidFill>
                  <a:srgbClr val="5B6B85"/>
                </a:solidFill>
              </a:defRPr>
            </a:pPr>
            <a:r>
              <a:t>NB9 real evidence-populated 4-tier dry-run — no decision fabricated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554480"/>
          <a:ext cx="86868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1700"/>
                <a:gridCol w="2171700"/>
                <a:gridCol w="2171700"/>
                <a:gridCol w="2171700"/>
              </a:tblGrid>
              <a:tr h="475488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Tier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Conditional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Outside Scope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 — Technical 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10/12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 — Model Risk 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7/7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 — CCO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2/5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4 — Business 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2/6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2062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2213B"/>
                </a:solidFill>
              </a:defRPr>
            </a:pPr>
            <a:r>
              <a:t>• Every Approve/Conditional/Reject checkbox and Name/Date/Signature field is left exactly blank — this package assembles real evidence, it does not fabricate a human decision.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864"/>
                </a:solidFill>
              </a:defRPr>
            </a:pPr>
            <a:r>
              <a:t>SMART Decisions by Role</a:t>
            </a:r>
          </a:p>
          <a:p>
            <a:pPr>
              <a:defRPr sz="1400">
                <a:solidFill>
                  <a:srgbClr val="5B6B85"/>
                </a:solidFill>
              </a:defRPr>
            </a:pPr>
            <a:r>
              <a:t>Auto-derived from real flags across NB1–NB9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2213B"/>
                </a:solidFill>
              </a:defRPr>
            </a:pPr>
            <a:r>
              <a:t>CEO / Board — Approve continued investment in the fraud-detection program</a:t>
            </a:r>
          </a:p>
          <a:p>
            <a:pPr>
              <a:defRPr sz="1200">
                <a:solidFill>
                  <a:srgbClr val="5B6B85"/>
                </a:solidFill>
              </a:defRPr>
            </a:pPr>
            <a:r>
              <a:t>Real basis: Measured savings vs. no model: EUR 199,995.35 (approx. USD 231,834.61) over the real 284,807-transaction sampled window. Classified Moderate materiality -- proportionate, standard oversight (Tier 2, composite score 5/9).</a:t>
            </a:r>
          </a:p>
          <a:p>
            <a:pPr>
              <a:defRPr sz="1200" b="1">
                <a:solidFill>
                  <a:srgbClr val="A5690E"/>
                </a:solidFill>
              </a:defRPr>
            </a:pPr>
            <a:r>
              <a:t>Conditional — 4 of 30 governance sign-off checks (NB9) are marked outside this pipeline's scope -- real organizational facts, not model gaps.  (Source: NB1, NB6, NB9)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0"/>
            <a:ext cx="11064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2213B"/>
                </a:solidFill>
              </a:defRPr>
            </a:pPr>
            <a:r>
              <a:t>CFO — Book projected fraud-loss savings into the budget</a:t>
            </a:r>
          </a:p>
          <a:p>
            <a:pPr>
              <a:defRPr sz="1200">
                <a:solidFill>
                  <a:srgbClr val="5B6B85"/>
                </a:solidFill>
              </a:defRPr>
            </a:pPr>
            <a:r>
              <a:t>Real basis: Real total cost by scenario -- no model EUR 265,164.35 (approx. USD 307,378.51), naive threshold EUR 73,034.07 (approx. USD 84,661.10), cost-optimal EUR 65,169.00 (approx. USD 75,543.90).</a:t>
            </a:r>
          </a:p>
          <a:p>
            <a:pPr>
              <a:defRPr sz="1200" b="1">
                <a:solidFill>
                  <a:srgbClr val="A5690E"/>
                </a:solidFill>
              </a:defRPr>
            </a:pPr>
            <a:r>
              <a:t>Conditional — Figures are real totals over the sampled ~48-hour window, not annualized -- NB6 explicitly disclosed that annualizing would require a representativeness assumption this project has not sourced.  (Source: NB1, NB6)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864"/>
                </a:solidFill>
              </a:defRPr>
            </a:pPr>
            <a:r>
              <a:t>SMART Decisions by Role</a:t>
            </a:r>
          </a:p>
          <a:p>
            <a:pPr>
              <a:defRPr sz="1400">
                <a:solidFill>
                  <a:srgbClr val="5B6B85"/>
                </a:solidFill>
              </a:defRPr>
            </a:pPr>
            <a:r>
              <a:t>Auto-derived from real flags across NB1–NB9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2213B"/>
                </a:solidFill>
              </a:defRPr>
            </a:pPr>
            <a:r>
              <a:t>Chief Risk Officer (CRO) — Accept the model into risk appetite at Tier 2</a:t>
            </a:r>
          </a:p>
          <a:p>
            <a:pPr>
              <a:defRPr sz="1200">
                <a:solidFill>
                  <a:srgbClr val="5B6B85"/>
                </a:solidFill>
              </a:defRPr>
            </a:pPr>
            <a:r>
              <a:t>Real basis: Worst-case NB5 stress-grid loss is 21.3x today's real cost (EUR 65,169.00 (approx. USD 75,543.90) -&gt; EUR 1,390,976.41 (approx. USD 1,612,419.85)). 2 open regulatory-scrutiny flags.</a:t>
            </a:r>
          </a:p>
          <a:p>
            <a:pPr>
              <a:defRPr sz="1200" b="1">
                <a:solidFill>
                  <a:srgbClr val="A5690E"/>
                </a:solidFill>
              </a:defRPr>
            </a:pPr>
            <a:r>
              <a:t>Conditional — NB2 real drift monitoring any_alert=True (worst real feature PSI 1.4298) -- resolve before treating Tier 2 as steady-state.  (Source: NB2, NB5, NB6)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0"/>
            <a:ext cx="11064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2213B"/>
                </a:solidFill>
              </a:defRPr>
            </a:pPr>
            <a:r>
              <a:t>Chief Compliance Officer (CCO) — Sign off on the regulatory applicability assessment</a:t>
            </a:r>
          </a:p>
          <a:p>
            <a:pPr>
              <a:defRPr sz="1200">
                <a:solidFill>
                  <a:srgbClr val="5B6B85"/>
                </a:solidFill>
              </a:defRPr>
            </a:pPr>
            <a:r>
              <a:t>Real basis: 4 real frameworks mapped (BSA/SAR, Reg E, GLBA Safeguards, PSD2 SCA). BCBS 239 data-quality gate: 6/6 checks passed on 284,807 real rows.</a:t>
            </a:r>
          </a:p>
          <a:p>
            <a:pPr>
              <a:defRPr sz="1200" b="1">
                <a:solidFill>
                  <a:srgbClr val="A5690E"/>
                </a:solidFill>
              </a:defRPr>
            </a:pPr>
            <a:r>
              <a:t>Conditional — Data architecture, Completeness remain limitation-disclosed, not evidenced.  (Source: NB7, NB8)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864"/>
                </a:solidFill>
              </a:defRPr>
            </a:pPr>
            <a:r>
              <a:t>SMART Decisions by Role</a:t>
            </a:r>
          </a:p>
          <a:p>
            <a:pPr>
              <a:defRPr sz="1400">
                <a:solidFill>
                  <a:srgbClr val="5B6B85"/>
                </a:solidFill>
              </a:defRPr>
            </a:pPr>
            <a:r>
              <a:t>Auto-derived from real flags across NB1–NB9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2213B"/>
                </a:solidFill>
              </a:defRPr>
            </a:pPr>
            <a:r>
              <a:t>CTO / Head of Data &amp; Analytics — Approve production deployment of the real-time scoring service</a:t>
            </a:r>
          </a:p>
          <a:p>
            <a:pPr>
              <a:defRPr sz="1200">
                <a:solidFill>
                  <a:srgbClr val="5B6B85"/>
                </a:solidFill>
              </a:defRPr>
            </a:pPr>
            <a:r>
              <a:t>Real basis: Real local API: p99 client latency 5.10 ms. Training/serving consistency check: max abs diff 0.0 over 500 real rows.</a:t>
            </a:r>
          </a:p>
          <a:p>
            <a:pPr>
              <a:defRPr sz="1200" b="1">
                <a:solidFill>
                  <a:srgbClr val="1E7A4C"/>
                </a:solidFill>
              </a:defRPr>
            </a:pPr>
            <a:r>
              <a:t>Go — Health check and train/serve consistency both real-verified PASS; latency is a local signal only, not yet a reachable production deployment.  (Source: NB4)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0"/>
            <a:ext cx="11064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2213B"/>
                </a:solidFill>
              </a:defRPr>
            </a:pPr>
            <a:r>
              <a:t>Head of Fraud Operations — Adopt the cost-optimal decision threshold operationally</a:t>
            </a:r>
          </a:p>
          <a:p>
            <a:pPr>
              <a:defRPr sz="1200">
                <a:solidFill>
                  <a:srgbClr val="5B6B85"/>
                </a:solidFill>
              </a:defRPr>
            </a:pPr>
            <a:r>
              <a:t>Real basis: Threshold 0.0443 -&gt; real precision 69.51%, real recall 82.93%. Human-review band (ASSUMPTION +/-0.02): 51 of 284,807 real transactions routed for manual review.</a:t>
            </a:r>
          </a:p>
          <a:p>
            <a:pPr>
              <a:defRPr sz="1200" b="1">
                <a:solidFill>
                  <a:srgbClr val="1E7A4C"/>
                </a:solidFill>
              </a:defRPr>
            </a:pPr>
            <a:r>
              <a:t>Go — Threshold is real and vectorized-search-verified (NB1); review band is a disclosed ASSUMPTION, not a measured optimum.  (Source: NB1, NB8)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864"/>
                </a:solidFill>
              </a:defRPr>
            </a:pPr>
            <a:r>
              <a:t>SMART Decisions by Role</a:t>
            </a:r>
          </a:p>
          <a:p>
            <a:pPr>
              <a:defRPr sz="1400">
                <a:solidFill>
                  <a:srgbClr val="5B6B85"/>
                </a:solidFill>
              </a:defRPr>
            </a:pPr>
            <a:r>
              <a:t>Auto-derived from real flags across NB1–NB9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2213B"/>
                </a:solidFill>
              </a:defRPr>
            </a:pPr>
            <a:r>
              <a:t>Model Risk Manager — Complete Tier 2 (second-line) model-risk documentation</a:t>
            </a:r>
          </a:p>
          <a:p>
            <a:pPr>
              <a:defRPr sz="1200">
                <a:solidFill>
                  <a:srgbClr val="5B6B85"/>
                </a:solidFill>
              </a:defRPr>
            </a:pPr>
            <a:r>
              <a:t>Real basis: NB9 real evidence: Tier 2 checks 7/7 Pass (methodology, environment pinning, RANDOM_SEED=42 consistency, fairness-scope disclosure, known limitations, challenger model, model card).</a:t>
            </a:r>
          </a:p>
          <a:p>
            <a:pPr>
              <a:defRPr sz="1200" b="1">
                <a:solidFill>
                  <a:srgbClr val="1E7A4C"/>
                </a:solidFill>
              </a:defRPr>
            </a:pPr>
            <a:r>
              <a:t>Go — All 7 Tier 2 checks pass on real evidence (NB9) -- ready for a real human Model Risk Manager signature.  (Source: NB9)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0"/>
            <a:ext cx="11064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2213B"/>
                </a:solidFill>
              </a:defRPr>
            </a:pPr>
            <a:r>
              <a:t>Technical Lead / Data Science — Resolve the open external-benchmark investigate flag</a:t>
            </a:r>
          </a:p>
          <a:p>
            <a:pPr>
              <a:defRPr sz="1200">
                <a:solidFill>
                  <a:srgbClr val="5B6B85"/>
                </a:solidFill>
              </a:defRPr>
            </a:pPr>
            <a:r>
              <a:t>Real basis: investigate_flag=True, precision_gap=-23.82% vs. external reference (your precision 69.51% vs. reference 93.33%).</a:t>
            </a:r>
          </a:p>
          <a:p>
            <a:pPr>
              <a:defRPr sz="1200" b="1">
                <a:solidFill>
                  <a:srgbClr val="A5690E"/>
                </a:solidFill>
              </a:defRPr>
            </a:pPr>
            <a:r>
              <a:t>Conditional — Large positive gaps may indicate leakage; large negative gaps may indicate a bug — investigate before trusting either.  (Source: NB1)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